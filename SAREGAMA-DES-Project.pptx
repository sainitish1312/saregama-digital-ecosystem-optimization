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Petron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image" Target="../media/image-2-11.svg"/><Relationship Id="rId12" Type="http://schemas.openxmlformats.org/officeDocument/2006/relationships/image" Target="../media/image-2-12.png"/><Relationship Id="rId13" Type="http://schemas.openxmlformats.org/officeDocument/2006/relationships/image" Target="../media/image-2-13.svg"/><Relationship Id="rId14" Type="http://schemas.openxmlformats.org/officeDocument/2006/relationships/image" Target="../media/image-2-14.png"/><Relationship Id="rId15" Type="http://schemas.openxmlformats.org/officeDocument/2006/relationships/image" Target="../media/image-2-15.sv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sv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89372"/>
            <a:ext cx="6296860" cy="186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10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SAREGAMA: Digital Ecosystem for Music Entertainment Optimization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5233360" y="2833489"/>
            <a:ext cx="6906444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b="1" spc="-30" kern="10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5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3424039"/>
            <a:ext cx="6296860" cy="2153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b="1" spc="-30" kern="10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K. Bhavya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b="1" spc="-30" kern="10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P. Joshika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b="1" spc="-30" kern="10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S. Niteswara Sai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b="1" spc="-30" kern="10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Vikram Kumar Pradhan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b="1" spc="-30" kern="10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Ujwala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3659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07183"/>
            <a:ext cx="10868745" cy="35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spc="-45" kern="10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Overview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661475" y="2367198"/>
            <a:ext cx="10868745" cy="275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spc="-17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proposed ecosystem will engage artists, listeners, distributors, advertisers, and content creators through an API-driven architecture. This will optimise music discovery, consumption, and monetisation, while preserving SAREGAMA's heritage.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661475" y="2707283"/>
            <a:ext cx="3580814" cy="1253034"/>
          </a:xfrm>
          <a:prstGeom prst="roundRect">
            <a:avLst>
              <a:gd name="adj" fmla="val 3663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062" y="2822873"/>
            <a:ext cx="327811" cy="327819"/>
          </a:xfrm>
          <a:prstGeom prst="ellipse">
            <a:avLst/>
          </a:prstGeom>
          <a:solidFill>
            <a:srgbClr val="9A81D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7249" y="2913063"/>
            <a:ext cx="147435" cy="1474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062" y="3213795"/>
            <a:ext cx="3349640" cy="179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23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Optimise Discovery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77062" y="3430984"/>
            <a:ext cx="3349640" cy="413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spc="-17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AI-powered recommendation engines, match content with cultural context, and curate mood-based playlists to help users find new music.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4305391" y="2707283"/>
            <a:ext cx="3580814" cy="1253034"/>
          </a:xfrm>
          <a:prstGeom prst="roundRect">
            <a:avLst>
              <a:gd name="adj" fmla="val 3663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420978" y="2822873"/>
            <a:ext cx="327811" cy="327819"/>
          </a:xfrm>
          <a:prstGeom prst="ellipse">
            <a:avLst/>
          </a:prstGeom>
          <a:solidFill>
            <a:srgbClr val="9A81D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11165" y="2913063"/>
            <a:ext cx="147435" cy="14743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20978" y="3213795"/>
            <a:ext cx="3349640" cy="179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23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Enhance Consumption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420978" y="3430984"/>
            <a:ext cx="3349640" cy="413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spc="-17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seamless multi-device synchronization, robust offline playback capabilities, and interactive social listening features to enrich user experience.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7949307" y="2707283"/>
            <a:ext cx="3580814" cy="1253034"/>
          </a:xfrm>
          <a:prstGeom prst="roundRect">
            <a:avLst>
              <a:gd name="adj" fmla="val 3663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064894" y="2822873"/>
            <a:ext cx="327811" cy="327819"/>
          </a:xfrm>
          <a:prstGeom prst="ellipse">
            <a:avLst/>
          </a:prstGeom>
          <a:solidFill>
            <a:srgbClr val="9A81D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55081" y="2913063"/>
            <a:ext cx="147435" cy="14743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64894" y="3213795"/>
            <a:ext cx="3349640" cy="179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23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Boost Monetisation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8064894" y="3430984"/>
            <a:ext cx="3349640" cy="413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spc="-17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dynamic pricing models, provide comprehensive creator economy tools, and forge strategic brand partnerships to generate diverse revenue streams.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661475" y="4023420"/>
            <a:ext cx="3580814" cy="1253034"/>
          </a:xfrm>
          <a:prstGeom prst="roundRect">
            <a:avLst>
              <a:gd name="adj" fmla="val 3663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062" y="4139009"/>
            <a:ext cx="327811" cy="327819"/>
          </a:xfrm>
          <a:prstGeom prst="ellipse">
            <a:avLst/>
          </a:prstGeom>
          <a:solidFill>
            <a:srgbClr val="9A81D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7249" y="4229199"/>
            <a:ext cx="147435" cy="14743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77062" y="4529931"/>
            <a:ext cx="3349640" cy="179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23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Preserve Heritage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777062" y="4747121"/>
            <a:ext cx="3349640" cy="413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spc="-17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Initiate large-scale digitization projects, create rich cultural documentation, and foster intergenerational storytelling to safeguard SAREGAMA's legacy.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4305391" y="4023420"/>
            <a:ext cx="3580814" cy="1253034"/>
          </a:xfrm>
          <a:prstGeom prst="roundRect">
            <a:avLst>
              <a:gd name="adj" fmla="val 3663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420978" y="4139009"/>
            <a:ext cx="327811" cy="327819"/>
          </a:xfrm>
          <a:prstGeom prst="ellipse">
            <a:avLst/>
          </a:prstGeom>
          <a:solidFill>
            <a:srgbClr val="9A81D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11165" y="4229199"/>
            <a:ext cx="147435" cy="14743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420978" y="4529931"/>
            <a:ext cx="3349640" cy="179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23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Enable Creator Economy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4420978" y="4747121"/>
            <a:ext cx="3349640" cy="413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spc="-17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robust tools and platforms for artists to directly engage with fans, manage their content, and monetize their creations effectively.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7949307" y="4023420"/>
            <a:ext cx="3580814" cy="1253034"/>
          </a:xfrm>
          <a:prstGeom prst="roundRect">
            <a:avLst>
              <a:gd name="adj" fmla="val 3663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064894" y="4139009"/>
            <a:ext cx="327811" cy="327819"/>
          </a:xfrm>
          <a:prstGeom prst="ellipse">
            <a:avLst/>
          </a:prstGeom>
          <a:solidFill>
            <a:srgbClr val="9A81D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55081" y="4229199"/>
            <a:ext cx="147435" cy="147439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064894" y="4529931"/>
            <a:ext cx="3349640" cy="179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23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Build Community Engagement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8064894" y="4747121"/>
            <a:ext cx="3349640" cy="413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spc="-17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Foster a vibrant community through interactive features, fan clubs, and collaborative projects, building stronger connections between artists and listeners.</a:t>
            </a:r>
            <a:endParaRPr lang="en-US" sz="850" dirty="0"/>
          </a:p>
        </p:txBody>
      </p:sp>
      <p:sp>
        <p:nvSpPr>
          <p:cNvPr id="35" name="Shape 26"/>
          <p:cNvSpPr/>
          <p:nvPr/>
        </p:nvSpPr>
        <p:spPr>
          <a:xfrm>
            <a:off x="661475" y="5339556"/>
            <a:ext cx="10868646" cy="977205"/>
          </a:xfrm>
          <a:prstGeom prst="roundRect">
            <a:avLst>
              <a:gd name="adj" fmla="val 4697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777062" y="5455146"/>
            <a:ext cx="327811" cy="327819"/>
          </a:xfrm>
          <a:prstGeom prst="ellipse">
            <a:avLst/>
          </a:prstGeom>
          <a:solidFill>
            <a:srgbClr val="9A81DF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67249" y="5545336"/>
            <a:ext cx="147435" cy="147439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77062" y="5846068"/>
            <a:ext cx="10637472" cy="179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23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Drive Innovation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777062" y="6063258"/>
            <a:ext cx="10637472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spc="-17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Continuously explore and integrate emerging technologies like blockchain for rights management and immersive experiences to stay ahead in the digital music landscape.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71426"/>
            <a:ext cx="6296860" cy="120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spc="-76" kern="10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SAREGAMA's Strategic Position &amp; Vision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61475" y="2416473"/>
            <a:ext cx="2925094" cy="360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spc="-45" kern="10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Unique Assets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661475" y="2954238"/>
            <a:ext cx="2925094" cy="3070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spc="-29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Heritage Catalog: 130,000+ songs, 100+ years, 25 languages.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spc="-29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Multi-Format Presence: Carvaan, streaming, licensing.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spc="-29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Legacy: Trusted name, quality, nostalgia.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spc="-29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Cross-Generational Appeal: Classical to contemporary music.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39590" y="2416473"/>
            <a:ext cx="2925094" cy="360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spc="-45" kern="10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Platform Vision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4039590" y="2954238"/>
            <a:ext cx="2925094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spc="-29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into an 'Intelligent Music Ecosystem Orchestrator' by: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39590" y="3690739"/>
            <a:ext cx="2925094" cy="2267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spc="-29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Connecting stakeholders for value creation.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spc="-29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Leveraging AI for personalised discovery.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spc="-29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Enabling new revenue streams.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spc="-29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Democratising music creation.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spc="-29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Preserving cultural heritage.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73051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10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Platform Architecture: Five Core Layers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2071291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30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367161"/>
            <a:ext cx="3496877" cy="2540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512417"/>
            <a:ext cx="3496877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Foundation Layer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61475" y="2935883"/>
            <a:ext cx="34968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 Catalog, User Behavioral Data, Rights Management (Blockchain), Cultural Context Engine.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47359" y="2071291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30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367161"/>
            <a:ext cx="3496877" cy="2540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9" name="Text 7"/>
          <p:cNvSpPr/>
          <p:nvPr/>
        </p:nvSpPr>
        <p:spPr>
          <a:xfrm>
            <a:off x="4347359" y="2512417"/>
            <a:ext cx="3496877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Platform Services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347359" y="2935883"/>
            <a:ext cx="34968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&amp; Access, CDN, Recommendation Engine, Analytics, Payment &amp; Settlement.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33244" y="2071291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30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2386013"/>
            <a:ext cx="3496877" cy="2540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13" name="Text 11"/>
          <p:cNvSpPr/>
          <p:nvPr/>
        </p:nvSpPr>
        <p:spPr>
          <a:xfrm>
            <a:off x="8033244" y="2512417"/>
            <a:ext cx="3496877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API Gateway Layer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033244" y="2935883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Public, Partner, Creator, and Consumer APIs for integrations.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417383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30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4450755"/>
            <a:ext cx="5339820" cy="2540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4614962"/>
            <a:ext cx="533982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Application Layer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61475" y="5038427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SAREGAMA Streaming App, Artist Portal, BI Suite, Licensing Marketplace.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190301" y="417383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30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90301" y="4450755"/>
            <a:ext cx="5339820" cy="2540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301" y="4614962"/>
            <a:ext cx="533982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Integration Layer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190301" y="5038427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Streaming Platforms, Social Media, IoT, Payment Gateways.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38758"/>
            <a:ext cx="6296860" cy="1124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71" kern="10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Data Flows &amp; Technology Stack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5233360" y="2050852"/>
            <a:ext cx="2939480" cy="337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2" kern="10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Data Flows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233360" y="2543175"/>
            <a:ext cx="2939480" cy="2252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spc="-27" kern="10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Content Ingestion: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Artist upload to distribution.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spc="-27" kern="10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Discovery: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User profile to personalised playlist.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spc="-27" kern="10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Monetisation: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Stream event to payment distribution.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spc="-27" kern="10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Licensing: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Request to usage monitoring.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597090" y="2050852"/>
            <a:ext cx="2939480" cy="337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spc="-42" kern="10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597090" y="2543175"/>
            <a:ext cx="2939480" cy="3721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spc="-27" kern="10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Microservices (Node.js, Python for ML).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spc="-27" kern="10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PostgreSQL, MongoDB, Redis.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spc="-27" kern="10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Streaming: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HLS/DASH via AWS CloudFront.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spc="-27" kern="10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AI/ML: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TensorFlow (recommendation), NLP (metadata).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spc="-27" kern="10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Blockchain: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Hyperledger Fabric (rights management).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spc="-27" kern="10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Mobile: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React Native.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spc="-27" kern="10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Analytics: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Elasticsearch, Kibana.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0235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10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Stakeholder Ecosystem Map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176847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 connects six primary stakeholder groups, fostering a multi-sided marketplace.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308820"/>
            <a:ext cx="3532298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950" b="1" spc="-39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Content Creators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61475" y="2732286"/>
            <a:ext cx="353229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content, access analytics, receive faster royalties.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3772" y="2283520"/>
            <a:ext cx="3804051" cy="3804146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3067" y="3204270"/>
            <a:ext cx="265800" cy="2658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97823" y="2308820"/>
            <a:ext cx="3532397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Listeners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7997823" y="2732286"/>
            <a:ext cx="353239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Personalised recommendations, vast catalog, social features.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772" y="2283520"/>
            <a:ext cx="3804051" cy="3804146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2530" y="3204270"/>
            <a:ext cx="265800" cy="26580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375837" y="3671391"/>
            <a:ext cx="3154383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Distributors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8375837" y="4094857"/>
            <a:ext cx="315438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License catalog via API, access metadata, gain insights.</a:t>
            </a:r>
            <a:endParaRPr lang="en-US" sz="14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772" y="2283520"/>
            <a:ext cx="3804051" cy="3804146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42361" y="4052590"/>
            <a:ext cx="265800" cy="26580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997823" y="5033963"/>
            <a:ext cx="3532397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Advertisers &amp; Brands</a:t>
            </a:r>
            <a:endParaRPr lang="en-US" sz="1950" dirty="0"/>
          </a:p>
        </p:txBody>
      </p:sp>
      <p:sp>
        <p:nvSpPr>
          <p:cNvPr id="17" name="Text 9"/>
          <p:cNvSpPr/>
          <p:nvPr/>
        </p:nvSpPr>
        <p:spPr>
          <a:xfrm>
            <a:off x="7997823" y="5457428"/>
            <a:ext cx="353239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ads, sponsorships, audience insights.</a:t>
            </a:r>
            <a:endParaRPr lang="en-US" sz="14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3772" y="2283520"/>
            <a:ext cx="3804051" cy="3804146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52530" y="4900910"/>
            <a:ext cx="265800" cy="265807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61475" y="5033963"/>
            <a:ext cx="3532298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950" b="1" spc="-39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Content Curators</a:t>
            </a:r>
            <a:endParaRPr lang="en-US" sz="1950" dirty="0"/>
          </a:p>
        </p:txBody>
      </p:sp>
      <p:sp>
        <p:nvSpPr>
          <p:cNvPr id="21" name="Text 11"/>
          <p:cNvSpPr/>
          <p:nvPr/>
        </p:nvSpPr>
        <p:spPr>
          <a:xfrm>
            <a:off x="661475" y="5457428"/>
            <a:ext cx="353229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playlists, earn revenue, platform visibility.</a:t>
            </a:r>
            <a:endParaRPr lang="en-US" sz="14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3772" y="2283520"/>
            <a:ext cx="3804051" cy="3804146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473067" y="4900910"/>
            <a:ext cx="265800" cy="265807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661475" y="3671391"/>
            <a:ext cx="315428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950" b="1" spc="-39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B2B Partners</a:t>
            </a:r>
            <a:endParaRPr lang="en-US" sz="1950" dirty="0"/>
          </a:p>
        </p:txBody>
      </p:sp>
      <p:sp>
        <p:nvSpPr>
          <p:cNvPr id="25" name="Text 13"/>
          <p:cNvSpPr/>
          <p:nvPr/>
        </p:nvSpPr>
        <p:spPr>
          <a:xfrm>
            <a:off x="661475" y="4094857"/>
            <a:ext cx="315428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License music for sync, integrate features, co-brand.</a:t>
            </a:r>
            <a:endParaRPr lang="en-US" sz="145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3772" y="2283520"/>
            <a:ext cx="3804051" cy="3804146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83236" y="4052590"/>
            <a:ext cx="265800" cy="2658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9359"/>
            <a:ext cx="10868745" cy="533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spc="-67" kern="10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Monetisation Model: Hybrid Strategy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401465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 employs a hybrid monetisation strategy with seven distinct revenue streams.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1881188"/>
            <a:ext cx="3026096" cy="203002"/>
          </a:xfrm>
          <a:prstGeom prst="roundRect">
            <a:avLst>
              <a:gd name="adj" fmla="val 33607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1881188"/>
            <a:ext cx="1059134" cy="203002"/>
          </a:xfrm>
          <a:prstGeom prst="roundRect">
            <a:avLst>
              <a:gd name="adj" fmla="val 33607"/>
            </a:avLst>
          </a:prstGeom>
          <a:solidFill>
            <a:srgbClr val="9A81DF"/>
          </a:solidFill>
          <a:ln/>
        </p:spPr>
      </p:sp>
      <p:sp>
        <p:nvSpPr>
          <p:cNvPr id="6" name="Text 4"/>
          <p:cNvSpPr/>
          <p:nvPr/>
        </p:nvSpPr>
        <p:spPr>
          <a:xfrm>
            <a:off x="3809309" y="1881088"/>
            <a:ext cx="358766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b="1" spc="-32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35%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61475" y="2270026"/>
            <a:ext cx="3506601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34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Consumer Subscriptions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61475" y="2620268"/>
            <a:ext cx="3506601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Freemium, Premium Individual/Family/Student, Heritage Plus.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2498" y="1881188"/>
            <a:ext cx="3025898" cy="203002"/>
          </a:xfrm>
          <a:prstGeom prst="roundRect">
            <a:avLst>
              <a:gd name="adj" fmla="val 33607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2498" y="1881188"/>
            <a:ext cx="756425" cy="203002"/>
          </a:xfrm>
          <a:prstGeom prst="roundRect">
            <a:avLst>
              <a:gd name="adj" fmla="val 33607"/>
            </a:avLst>
          </a:prstGeom>
          <a:solidFill>
            <a:srgbClr val="9A81DF"/>
          </a:solidFill>
          <a:ln/>
        </p:spPr>
      </p:sp>
      <p:sp>
        <p:nvSpPr>
          <p:cNvPr id="11" name="Text 9"/>
          <p:cNvSpPr/>
          <p:nvPr/>
        </p:nvSpPr>
        <p:spPr>
          <a:xfrm>
            <a:off x="7490134" y="1881088"/>
            <a:ext cx="358964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b="1" spc="-32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25%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42498" y="2270026"/>
            <a:ext cx="3506601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34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Advertising Revenue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342498" y="2620268"/>
            <a:ext cx="3506601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Audio, Display, Video Ads, Sponsored Playlists, Native Content.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23520" y="1881188"/>
            <a:ext cx="3003475" cy="203002"/>
          </a:xfrm>
          <a:prstGeom prst="roundRect">
            <a:avLst>
              <a:gd name="adj" fmla="val 33607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23520" y="1881188"/>
            <a:ext cx="600655" cy="203002"/>
          </a:xfrm>
          <a:prstGeom prst="roundRect">
            <a:avLst>
              <a:gd name="adj" fmla="val 33607"/>
            </a:avLst>
          </a:prstGeom>
          <a:solidFill>
            <a:srgbClr val="9A81DF"/>
          </a:solidFill>
          <a:ln/>
        </p:spPr>
      </p:sp>
      <p:sp>
        <p:nvSpPr>
          <p:cNvPr id="16" name="Text 14"/>
          <p:cNvSpPr/>
          <p:nvPr/>
        </p:nvSpPr>
        <p:spPr>
          <a:xfrm>
            <a:off x="11148734" y="1881088"/>
            <a:ext cx="381487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b="1" spc="-32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20%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023520" y="2270026"/>
            <a:ext cx="3506700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34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Licensing &amp; Sync Rights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023520" y="2620268"/>
            <a:ext cx="350670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Platforms, Sync, Public Performance, Cover Songs.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1475" y="3463727"/>
            <a:ext cx="3130075" cy="203002"/>
          </a:xfrm>
          <a:prstGeom prst="roundRect">
            <a:avLst>
              <a:gd name="adj" fmla="val 33607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1475" y="3463727"/>
            <a:ext cx="250323" cy="203002"/>
          </a:xfrm>
          <a:prstGeom prst="roundRect">
            <a:avLst>
              <a:gd name="adj" fmla="val 33607"/>
            </a:avLst>
          </a:prstGeom>
          <a:solidFill>
            <a:srgbClr val="9A81DF"/>
          </a:solidFill>
          <a:ln/>
        </p:spPr>
      </p:sp>
      <p:sp>
        <p:nvSpPr>
          <p:cNvPr id="21" name="Text 19"/>
          <p:cNvSpPr/>
          <p:nvPr/>
        </p:nvSpPr>
        <p:spPr>
          <a:xfrm>
            <a:off x="3913288" y="3463627"/>
            <a:ext cx="254787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b="1" spc="-32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8%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61475" y="3852565"/>
            <a:ext cx="3506601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34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Artist Services &amp; Tools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61475" y="4202807"/>
            <a:ext cx="3506601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Distribution, Production, Marketing, Analytics Premium.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2498" y="3463727"/>
            <a:ext cx="3136921" cy="203002"/>
          </a:xfrm>
          <a:prstGeom prst="roundRect">
            <a:avLst>
              <a:gd name="adj" fmla="val 33607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2498" y="3463727"/>
            <a:ext cx="156762" cy="203002"/>
          </a:xfrm>
          <a:prstGeom prst="roundRect">
            <a:avLst>
              <a:gd name="adj" fmla="val 43521"/>
            </a:avLst>
          </a:prstGeom>
          <a:solidFill>
            <a:srgbClr val="9A81DF"/>
          </a:solidFill>
          <a:ln/>
        </p:spPr>
      </p:sp>
      <p:sp>
        <p:nvSpPr>
          <p:cNvPr id="26" name="Text 24"/>
          <p:cNvSpPr/>
          <p:nvPr/>
        </p:nvSpPr>
        <p:spPr>
          <a:xfrm>
            <a:off x="7601157" y="3463627"/>
            <a:ext cx="247941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b="1" spc="-32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5%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342498" y="3852565"/>
            <a:ext cx="3506601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34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&amp; Insights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4342498" y="4202807"/>
            <a:ext cx="3506601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Research, Cultural Intelligence, Predictive Analytics.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23520" y="3463727"/>
            <a:ext cx="3142973" cy="203002"/>
          </a:xfrm>
          <a:prstGeom prst="roundRect">
            <a:avLst>
              <a:gd name="adj" fmla="val 33607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23520" y="3463727"/>
            <a:ext cx="125707" cy="203002"/>
          </a:xfrm>
          <a:prstGeom prst="roundRect">
            <a:avLst>
              <a:gd name="adj" fmla="val 50000"/>
            </a:avLst>
          </a:prstGeom>
          <a:solidFill>
            <a:srgbClr val="9A81DF"/>
          </a:solidFill>
          <a:ln/>
        </p:spPr>
      </p:sp>
      <p:sp>
        <p:nvSpPr>
          <p:cNvPr id="31" name="Text 29"/>
          <p:cNvSpPr/>
          <p:nvPr/>
        </p:nvSpPr>
        <p:spPr>
          <a:xfrm>
            <a:off x="11288232" y="3463627"/>
            <a:ext cx="241988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b="1" spc="-32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4%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8023520" y="3852565"/>
            <a:ext cx="3506700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34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Live Events &amp; Experiences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8023520" y="4202807"/>
            <a:ext cx="350670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Concerts, Exclusive Sessions, Festival Partnerships.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1475" y="5046266"/>
            <a:ext cx="3137318" cy="203002"/>
          </a:xfrm>
          <a:prstGeom prst="roundRect">
            <a:avLst>
              <a:gd name="adj" fmla="val 33607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1475" y="5046266"/>
            <a:ext cx="94057" cy="203002"/>
          </a:xfrm>
          <a:prstGeom prst="roundRect">
            <a:avLst>
              <a:gd name="adj" fmla="val 50000"/>
            </a:avLst>
          </a:prstGeom>
          <a:solidFill>
            <a:srgbClr val="9A81DF"/>
          </a:solidFill>
          <a:ln/>
        </p:spPr>
      </p:sp>
      <p:sp>
        <p:nvSpPr>
          <p:cNvPr id="36" name="Text 34"/>
          <p:cNvSpPr/>
          <p:nvPr/>
        </p:nvSpPr>
        <p:spPr>
          <a:xfrm>
            <a:off x="3920531" y="5046166"/>
            <a:ext cx="247545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b="1" spc="-32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3%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661475" y="5435104"/>
            <a:ext cx="3506601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34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B2B Platform Licensing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661475" y="5785346"/>
            <a:ext cx="3506601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White-Label Solutions, Enterprise Music, API Licensing.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10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Governance &amp; Compliance Strategy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1475" y="947936"/>
            <a:ext cx="531908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10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Rights Management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81199"/>
            <a:ext cx="5319083" cy="373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Blockchain-Based Rights Ledger for automated royalties.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Royalty Calculation Engine.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Rights Verification Protocol with CMO integration.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61475" y="1601589"/>
            <a:ext cx="531908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10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Regulatory Compliance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1475" y="1834852"/>
            <a:ext cx="5319083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Copyright (DMCA, IPRS, PPL).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Protection (GDPR, DPDP Act 2023).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(PCI-DSS, GST, FEMA, KYC/AML).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Moderation (AI, community, human review).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217487" y="947936"/>
            <a:ext cx="531908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23" kern="10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Platform Governance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487" y="1181199"/>
            <a:ext cx="5319083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 Council for policy input.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Transparency Commitments (royalty, API, reports).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Ethical AI Governance (bias audits, explainability).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 Protection Measures (payment thresholds, ombudsman).</a:t>
            </a:r>
            <a:endParaRPr lang="en-US" sz="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487" y="1737320"/>
            <a:ext cx="5319083" cy="53192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06338"/>
            <a:ext cx="6296860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spc="-62" kern="10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Scalability &amp; Sustainability Plan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830837" y="1380530"/>
            <a:ext cx="19050" cy="2241848"/>
          </a:xfrm>
          <a:prstGeom prst="roundRect">
            <a:avLst>
              <a:gd name="adj" fmla="val 49999"/>
            </a:avLst>
          </a:prstGeom>
          <a:solidFill>
            <a:srgbClr val="48367C"/>
          </a:solidFill>
          <a:ln/>
        </p:spPr>
      </p:sp>
      <p:sp>
        <p:nvSpPr>
          <p:cNvPr id="5" name="Shape 2"/>
          <p:cNvSpPr/>
          <p:nvPr/>
        </p:nvSpPr>
        <p:spPr>
          <a:xfrm>
            <a:off x="981199" y="1540371"/>
            <a:ext cx="451831" cy="19050"/>
          </a:xfrm>
          <a:prstGeom prst="roundRect">
            <a:avLst>
              <a:gd name="adj" fmla="val 49999"/>
            </a:avLst>
          </a:prstGeom>
          <a:solidFill>
            <a:srgbClr val="48367C"/>
          </a:solidFill>
          <a:ln/>
        </p:spPr>
      </p:sp>
      <p:sp>
        <p:nvSpPr>
          <p:cNvPr id="6" name="Shape 3"/>
          <p:cNvSpPr/>
          <p:nvPr/>
        </p:nvSpPr>
        <p:spPr>
          <a:xfrm>
            <a:off x="661425" y="1380530"/>
            <a:ext cx="338824" cy="338832"/>
          </a:xfrm>
          <a:prstGeom prst="roundRect">
            <a:avLst>
              <a:gd name="adj" fmla="val 18671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2174" y="1401663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b="1" spc="-37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583988" y="1432223"/>
            <a:ext cx="537434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31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1 (Year 1-2)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583988" y="1751310"/>
            <a:ext cx="5374347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Cloud-native on AWS/Azure, 10M MAU, India-wide, Microservices.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81199" y="2367657"/>
            <a:ext cx="451831" cy="19050"/>
          </a:xfrm>
          <a:prstGeom prst="roundRect">
            <a:avLst>
              <a:gd name="adj" fmla="val 49999"/>
            </a:avLst>
          </a:prstGeom>
          <a:solidFill>
            <a:srgbClr val="48367C"/>
          </a:solidFill>
          <a:ln/>
        </p:spPr>
      </p:sp>
      <p:sp>
        <p:nvSpPr>
          <p:cNvPr id="11" name="Shape 8"/>
          <p:cNvSpPr/>
          <p:nvPr/>
        </p:nvSpPr>
        <p:spPr>
          <a:xfrm>
            <a:off x="661425" y="2207816"/>
            <a:ext cx="338824" cy="338832"/>
          </a:xfrm>
          <a:prstGeom prst="roundRect">
            <a:avLst>
              <a:gd name="adj" fmla="val 18671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2174" y="2228949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b="1" spc="-37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1583988" y="2259509"/>
            <a:ext cx="537434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31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2 (Year 3-4)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583988" y="2578596"/>
            <a:ext cx="5374347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South Asia, Middle East, 50M MAU, Kubernetes, serverless.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81199" y="3194943"/>
            <a:ext cx="451831" cy="19050"/>
          </a:xfrm>
          <a:prstGeom prst="roundRect">
            <a:avLst>
              <a:gd name="adj" fmla="val 49999"/>
            </a:avLst>
          </a:prstGeom>
          <a:solidFill>
            <a:srgbClr val="48367C"/>
          </a:solidFill>
          <a:ln/>
        </p:spPr>
      </p:sp>
      <p:sp>
        <p:nvSpPr>
          <p:cNvPr id="16" name="Shape 13"/>
          <p:cNvSpPr/>
          <p:nvPr/>
        </p:nvSpPr>
        <p:spPr>
          <a:xfrm>
            <a:off x="661425" y="3035102"/>
            <a:ext cx="338824" cy="338832"/>
          </a:xfrm>
          <a:prstGeom prst="roundRect">
            <a:avLst>
              <a:gd name="adj" fmla="val 18671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2174" y="3056235"/>
            <a:ext cx="2372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b="1" spc="-37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1583988" y="3086795"/>
            <a:ext cx="537434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31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3 (Year 5+)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1583988" y="3405882"/>
            <a:ext cx="5374347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(50+ countries), 100M+ MAU, multi-cloud, 5G optimisation.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61475" y="3877270"/>
            <a:ext cx="2964681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37" kern="10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Growth Potential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661475" y="4293691"/>
            <a:ext cx="2964681" cy="1815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Diversification: Bangladesh, Pakistan, Sri Lanka, Middle East, Global.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 Development: Digitize 50K+ recordings, partner with labels, 1000 new artists/year, podcasts/audiobooks.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Scalability: API-first, self-serve onboarding, revenue-sharing.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000003" y="3877270"/>
            <a:ext cx="2964681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37" kern="10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Sustainability</a:t>
            </a:r>
            <a:endParaRPr lang="en-US" sz="1850" dirty="0"/>
          </a:p>
        </p:txBody>
      </p:sp>
      <p:sp>
        <p:nvSpPr>
          <p:cNvPr id="23" name="Text 20"/>
          <p:cNvSpPr/>
          <p:nvPr/>
        </p:nvSpPr>
        <p:spPr>
          <a:xfrm>
            <a:off x="4000003" y="4293691"/>
            <a:ext cx="2964681" cy="1124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Carbon-neutral streaming: Renewable energy, efficient encoding.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Cultural sustainability: Heritage preservation fund (2% revenue), regional languages, folk artist program.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76461"/>
            <a:ext cx="6296860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spc="-60" kern="10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Conclusion: SAREGAMA's Future Roadmap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1695245"/>
            <a:ext cx="6906444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spc="-23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SAREGAMA aims to be the nucleus of India's music economy, delivering value for generations.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021384"/>
            <a:ext cx="6296860" cy="18079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73265" y="2185095"/>
            <a:ext cx="5893248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30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Differentiators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5473265" y="2488902"/>
            <a:ext cx="5893248" cy="1176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spc="-23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Heritage-Innovation Balance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spc="-23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Artist-Centric Design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spc="-23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Cultural Intelligence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spc="-23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Ecosystem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spc="-23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Ethical AI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940076"/>
            <a:ext cx="6296860" cy="18079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73265" y="4103787"/>
            <a:ext cx="5893248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30" kern="10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Critical Success Factors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5473265" y="4407595"/>
            <a:ext cx="5893248" cy="1176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spc="-23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Excellence in execution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spc="-23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partnerships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spc="-23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innovation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spc="-23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Well-crafted governance</a:t>
            </a:r>
            <a:endParaRPr lang="en-US" sz="1100" dirty="0"/>
          </a:p>
          <a:p>
            <a:pPr algn="l" marL="223520" indent="-223520">
              <a:lnSpc>
                <a:spcPct val="118000"/>
              </a:lnSpc>
              <a:buSzPct val="100000"/>
              <a:buChar char="•"/>
            </a:pPr>
            <a:r>
              <a:rPr lang="en-US" sz="1100" spc="-23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capital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5233360" y="5875529"/>
            <a:ext cx="6296860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spc="-23" kern="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Plan: Technical specs (Months 1-3), Pilot (Months 4-6), Phased rollout (Months 7-12), Scaling to 5M users (Year 2), Geographic growth (Year 3+).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2026-10-08T08:11:30Z</dcterms:created>
  <dcterms:modified xsi:type="dcterms:W3CDTF">2026-10-08T08:11:30Z</dcterms:modified>
</cp:coreProperties>
</file>